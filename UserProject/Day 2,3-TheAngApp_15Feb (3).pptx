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305" r:id="rId30"/>
    <p:sldId id="284" r:id="rId31"/>
    <p:sldId id="285" r:id="rId32"/>
    <p:sldId id="286" r:id="rId33"/>
    <p:sldId id="297" r:id="rId34"/>
    <p:sldId id="287" r:id="rId35"/>
    <p:sldId id="298" r:id="rId36"/>
    <p:sldId id="288" r:id="rId37"/>
    <p:sldId id="289" r:id="rId38"/>
    <p:sldId id="299" r:id="rId39"/>
    <p:sldId id="290" r:id="rId40"/>
    <p:sldId id="291" r:id="rId41"/>
    <p:sldId id="292" r:id="rId42"/>
    <p:sldId id="293" r:id="rId43"/>
    <p:sldId id="294" r:id="rId44"/>
    <p:sldId id="301" r:id="rId45"/>
    <p:sldId id="302" r:id="rId46"/>
    <p:sldId id="300" r:id="rId47"/>
    <p:sldId id="303" r:id="rId48"/>
    <p:sldId id="304" r:id="rId49"/>
    <p:sldId id="295" r:id="rId50"/>
    <p:sldId id="296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70" d="100"/>
          <a:sy n="70" d="100"/>
        </p:scale>
        <p:origin x="5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12206817" cy="686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Day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800" b="1"/>
              <a:t>The Angular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>
                <a:sym typeface="+mn-ea"/>
              </a:rPr>
              <a:t>Types of Applications in Angular</a:t>
            </a:r>
          </a:p>
          <a:p>
            <a:r>
              <a:rPr lang="en-US" sz="2400">
                <a:sym typeface="+mn-ea"/>
              </a:rPr>
              <a:t>Modularity in Angular</a:t>
            </a:r>
          </a:p>
          <a:p>
            <a:r>
              <a:rPr lang="en-US" sz="2400">
                <a:sym typeface="+mn-ea"/>
              </a:rPr>
              <a:t>Dynamic and Eager Loading</a:t>
            </a:r>
          </a:p>
          <a:p>
            <a:r>
              <a:rPr lang="en-US" sz="2400">
                <a:sym typeface="+mn-ea"/>
              </a:rPr>
              <a:t>Getting into the ‘Core’ Module - creating components</a:t>
            </a:r>
          </a:p>
          <a:p>
            <a:r>
              <a:rPr lang="en-US" sz="2400">
                <a:sym typeface="+mn-ea"/>
              </a:rPr>
              <a:t>app.component.html</a:t>
            </a:r>
          </a:p>
          <a:p>
            <a:r>
              <a:rPr lang="en-US" sz="2400">
                <a:sym typeface="+mn-ea"/>
              </a:rPr>
              <a:t>app.module.ts</a:t>
            </a:r>
          </a:p>
          <a:p>
            <a:r>
              <a:rPr lang="en-US" sz="2400">
                <a:sym typeface="+mn-ea"/>
              </a:rPr>
              <a:t>Running the app</a:t>
            </a:r>
          </a:p>
          <a:p>
            <a:r>
              <a:rPr lang="en-US" sz="2400">
                <a:sym typeface="+mn-ea"/>
              </a:rPr>
              <a:t>Passing Data between Components</a:t>
            </a:r>
          </a:p>
          <a:p>
            <a:r>
              <a:rPr lang="en-US" sz="2400">
                <a:sym typeface="+mn-ea"/>
              </a:rPr>
              <a:t>Data Binding: Interpolation</a:t>
            </a:r>
          </a:p>
          <a:p>
            <a:r>
              <a:rPr lang="en-US" sz="2400">
                <a:sym typeface="+mn-ea"/>
              </a:rPr>
              <a:t>Adding global styles</a:t>
            </a:r>
          </a:p>
          <a:p>
            <a:r>
              <a:rPr lang="en-US" sz="2400">
                <a:sym typeface="+mn-ea"/>
              </a:rPr>
              <a:t>Pipes</a:t>
            </a:r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altLang="en-US" sz="2400">
              <a:sym typeface="+mn-ea"/>
            </a:endParaRPr>
          </a:p>
          <a:p>
            <a:endParaRPr lang="en-US" altLang="en-US" sz="2400"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/>
              <a:t>Types of Applications in Angular: Standalone vs. Module-Based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/>
              <a:t>Angular supports two types of application architectures:</a:t>
            </a:r>
          </a:p>
          <a:p>
            <a:pPr lvl="1"/>
            <a:r>
              <a:rPr lang="en-US" altLang="en-US" sz="2400"/>
              <a:t>Standalone Application (introduced in Angular 14)</a:t>
            </a:r>
          </a:p>
          <a:p>
            <a:pPr lvl="1"/>
            <a:r>
              <a:rPr lang="en-US" altLang="en-US" sz="2400"/>
              <a:t>Module-Based Application (traditional approach)</a:t>
            </a:r>
          </a:p>
          <a:p>
            <a:r>
              <a:rPr lang="en-US" altLang="en-US" sz="2800"/>
              <a:t>Each has its advantages based on project requirements.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Standalone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Think of this as a "direct" way of building an Angular app.</a:t>
            </a:r>
          </a:p>
          <a:p>
            <a:r>
              <a:rPr lang="en-US" altLang="en-US"/>
              <a:t>You don’t need to create modules (NgModule).</a:t>
            </a:r>
          </a:p>
          <a:p>
            <a:r>
              <a:rPr lang="en-US" altLang="en-US"/>
              <a:t>Every component, directive, or pipe can stand on its own and directly import what it needs.</a:t>
            </a:r>
          </a:p>
          <a:p>
            <a:r>
              <a:rPr lang="en-US" altLang="en-US"/>
              <a:t>It makes things simpler and is faster for smaller projects.</a:t>
            </a:r>
          </a:p>
          <a:p>
            <a:r>
              <a:rPr lang="en-US" altLang="en-US"/>
              <a:t>Best for: Small to medium projects, or when you want a simpler structure.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Module Based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This is the old-school method where everything is organized into modules (NgModule).</a:t>
            </a:r>
          </a:p>
          <a:p>
            <a:r>
              <a:rPr lang="en-US" altLang="en-US"/>
              <a:t>You must define an AppModule, which acts as the main container for all components, directives, and services.</a:t>
            </a:r>
          </a:p>
          <a:p>
            <a:r>
              <a:rPr lang="en-US" altLang="en-US"/>
              <a:t>Helps in managing large applications by grouping related features into different modules.</a:t>
            </a:r>
          </a:p>
          <a:p>
            <a:r>
              <a:rPr lang="en-US" altLang="en-US"/>
              <a:t>Best for: Large applications where you need better organization and modularity.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Create a new folder ‘Angular_Applications’ --&gt; open in integrated terminal</a:t>
            </a:r>
          </a:p>
          <a:p>
            <a:r>
              <a:rPr lang="en-US" altLang="en-US">
                <a:highlight>
                  <a:srgbClr val="00FFFF"/>
                </a:highlight>
              </a:rPr>
              <a:t>npx @angular/cli@19 new UserProject --no-standalone</a:t>
            </a:r>
          </a:p>
          <a:p>
            <a:r>
              <a:rPr lang="en-US" altLang="en-US" sz="2000" b="1" i="1"/>
              <a:t>npx </a:t>
            </a:r>
            <a:r>
              <a:rPr lang="en-US" altLang="en-US" sz="2000"/>
              <a:t>runs the specified package (here, @angular/cli version 19) without globally installing it.</a:t>
            </a:r>
          </a:p>
          <a:p>
            <a:r>
              <a:rPr lang="en-US" altLang="en-US" sz="2000" b="1" i="1"/>
              <a:t>@angular/cli@1</a:t>
            </a:r>
            <a:r>
              <a:rPr lang="en-US" altLang="en-US" sz="2000"/>
              <a:t>9 ensures that Angular CLI version 19 is used to create the project.</a:t>
            </a:r>
          </a:p>
          <a:p>
            <a:r>
              <a:rPr lang="en-US" altLang="en-US" sz="2000" b="1" i="1"/>
              <a:t>new </a:t>
            </a:r>
            <a:r>
              <a:rPr lang="en-US" altLang="en-US" sz="2000"/>
              <a:t>is a command provided by Angular CLI to create a new Angular project.</a:t>
            </a:r>
          </a:p>
          <a:p>
            <a:r>
              <a:rPr lang="en-US" altLang="en-US" sz="2000" b="1" i="1"/>
              <a:t>UserProject </a:t>
            </a:r>
            <a:r>
              <a:rPr lang="en-US" altLang="en-US" sz="2000"/>
              <a:t>is the name of the new project directory.</a:t>
            </a:r>
          </a:p>
          <a:p>
            <a:r>
              <a:rPr lang="en-US" altLang="en-US" sz="2000" b="1" i="1"/>
              <a:t>--no-standalone </a:t>
            </a:r>
            <a:r>
              <a:rPr lang="en-US" altLang="en-US" sz="2000"/>
              <a:t>flag instructs Angular CLI not to generate a standalone application.</a:t>
            </a:r>
          </a:p>
          <a:p>
            <a:r>
              <a:rPr lang="en-US" altLang="en-US" sz="2000"/>
              <a:t>Right click on newly created project and open in integrated terminal.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Modularity in Angular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/>
              <a:t>A Module in Angular is a container that organizes components, directives, pipes, and services.</a:t>
            </a:r>
          </a:p>
          <a:p>
            <a:r>
              <a:rPr lang="en-US" altLang="en-US" sz="2400"/>
              <a:t>Every Angular application has at least one module: AppModule (app.module.ts).</a:t>
            </a:r>
          </a:p>
          <a:p>
            <a:r>
              <a:rPr lang="en-US" altLang="en-US" sz="2400"/>
              <a:t>Modules help in structuring and managing large applications efficiently.</a:t>
            </a:r>
          </a:p>
          <a:p>
            <a:r>
              <a:rPr lang="en-US" altLang="en-US" sz="2400"/>
              <a:t>Types of Modules in Angular:</a:t>
            </a:r>
          </a:p>
          <a:p>
            <a:pPr lvl="1"/>
            <a:r>
              <a:rPr lang="en-US" altLang="en-US" sz="2100"/>
              <a:t>Root Module (AppModule) – The main module that bootstraps the application.</a:t>
            </a:r>
          </a:p>
          <a:p>
            <a:pPr lvl="1"/>
            <a:r>
              <a:rPr lang="en-US" altLang="en-US" sz="2100"/>
              <a:t>Feature Modules – Used for organizing related components (e.g., UserModule, ProductModule).</a:t>
            </a:r>
          </a:p>
          <a:p>
            <a:pPr lvl="1"/>
            <a:r>
              <a:rPr lang="en-US" altLang="en-US" sz="2100"/>
              <a:t>Core Module – Contains singleton services (e.g., authentication, logging).</a:t>
            </a:r>
          </a:p>
          <a:p>
            <a:pPr lvl="1"/>
            <a:r>
              <a:rPr lang="en-US" altLang="en-US" sz="2100"/>
              <a:t>Shared Module – Stores common components, directives, and pipes used across multiple modules.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ym typeface="+mn-ea"/>
              </a:rPr>
              <a:t>Key Benefits of Using Modules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altLang="en-US" sz="2800"/>
              <a:t>✅ Better Organization – Helps in maintaining code structure.</a:t>
            </a:r>
          </a:p>
          <a:p>
            <a:pPr marL="0" indent="0" algn="just">
              <a:buNone/>
            </a:pPr>
            <a:r>
              <a:rPr lang="en-US" altLang="en-US" sz="2800"/>
              <a:t>✅ Lazy Loading – Improves performance by loading modules only when needed.</a:t>
            </a:r>
          </a:p>
          <a:p>
            <a:pPr marL="0" indent="0" algn="just">
              <a:buNone/>
            </a:pPr>
            <a:r>
              <a:rPr lang="en-US" altLang="en-US" sz="2800"/>
              <a:t>✅ Reusability – Feature modules can be reused across applications.</a:t>
            </a:r>
          </a:p>
          <a:p>
            <a:pPr marL="0" indent="0" algn="just">
              <a:buNone/>
            </a:pPr>
            <a:r>
              <a:rPr lang="en-US" altLang="en-US" sz="2800"/>
              <a:t>✅ S</a:t>
            </a:r>
            <a:r>
              <a:rPr lang="en-US" altLang="en-US" sz="2800" u="sng"/>
              <a:t>eparation of Concern</a:t>
            </a:r>
            <a:r>
              <a:rPr lang="en-US" altLang="en-US" sz="2800"/>
              <a:t>s – Each module handles a specific functionality.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Let’s create modules: Core, Shared, Profiles, Dashboard &amp; Auth</a:t>
            </a:r>
          </a:p>
          <a:p>
            <a:r>
              <a:rPr lang="en-US" altLang="en-US">
                <a:highlight>
                  <a:srgbClr val="00FFFF"/>
                </a:highlight>
              </a:rPr>
              <a:t>npx ng g m core</a:t>
            </a:r>
          </a:p>
          <a:p>
            <a:r>
              <a:rPr lang="en-US" altLang="en-US">
                <a:highlight>
                  <a:srgbClr val="00FFFF"/>
                </a:highlight>
              </a:rPr>
              <a:t>npx ng g m shared</a:t>
            </a:r>
          </a:p>
          <a:p>
            <a:r>
              <a:rPr lang="en-US" altLang="en-US">
                <a:highlight>
                  <a:srgbClr val="00FFFF"/>
                </a:highlight>
              </a:rPr>
              <a:t>npx ng g m profiles --routing</a:t>
            </a:r>
          </a:p>
          <a:p>
            <a:r>
              <a:rPr lang="en-US" altLang="en-US">
                <a:highlight>
                  <a:srgbClr val="00FFFF"/>
                </a:highlight>
              </a:rPr>
              <a:t>npx ng g m dashboard --routing </a:t>
            </a:r>
          </a:p>
          <a:p>
            <a:r>
              <a:rPr lang="en-US" altLang="en-US">
                <a:highlight>
                  <a:srgbClr val="00FFFF"/>
                </a:highlight>
              </a:rPr>
              <a:t>npx ng g m auth --routing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Creating Modules - Eager 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highlight>
                  <a:srgbClr val="00FFFF"/>
                </a:highlight>
                <a:sym typeface="+mn-ea"/>
              </a:rPr>
              <a:t>npx ng g m core</a:t>
            </a:r>
            <a:endParaRPr lang="en-US" altLang="en-US">
              <a:highlight>
                <a:srgbClr val="00FFFF"/>
              </a:highlight>
            </a:endParaRPr>
          </a:p>
          <a:p>
            <a:r>
              <a:rPr lang="en-US" altLang="en-US" sz="2400"/>
              <a:t>npx – Runs a package without installing it globally.</a:t>
            </a:r>
          </a:p>
          <a:p>
            <a:r>
              <a:rPr lang="en-US" altLang="en-US" sz="2400"/>
              <a:t>ng – The Angular CLI command-line tool.</a:t>
            </a:r>
          </a:p>
          <a:p>
            <a:r>
              <a:rPr lang="en-US" altLang="en-US" sz="2400"/>
              <a:t>g (or generate) – Generates a new Angular entity (like a component, module, service, etc.).</a:t>
            </a:r>
          </a:p>
          <a:p>
            <a:r>
              <a:rPr lang="en-US" altLang="en-US" sz="2400"/>
              <a:t>m (or module) – Specifies that we are generating a new Angular module.</a:t>
            </a:r>
          </a:p>
          <a:p>
            <a:r>
              <a:rPr lang="en-US" altLang="en-US" sz="2400"/>
              <a:t>core – The name of the module being created (i.e., core.module.ts).</a:t>
            </a:r>
          </a:p>
          <a:p>
            <a:endParaRPr lang="en-US" altLang="en-US"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Creating Modules - Dynamic 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highlight>
                  <a:srgbClr val="00FFFF"/>
                </a:highlight>
              </a:rPr>
              <a:t>npx ng g m profiles --routing</a:t>
            </a:r>
          </a:p>
          <a:p>
            <a:r>
              <a:rPr lang="en-US" altLang="en-US" sz="2400"/>
              <a:t>npx – Runs a package without installing it globally.</a:t>
            </a:r>
          </a:p>
          <a:p>
            <a:r>
              <a:rPr lang="en-US" altLang="en-US" sz="2400"/>
              <a:t>ng – The Angular CLI command-line tool.</a:t>
            </a:r>
          </a:p>
          <a:p>
            <a:r>
              <a:rPr lang="en-US" altLang="en-US" sz="2400"/>
              <a:t>g (or generate) – Generates a new Angular entity.</a:t>
            </a:r>
          </a:p>
          <a:p>
            <a:r>
              <a:rPr lang="en-US" altLang="en-US" sz="2400"/>
              <a:t>m (or module) – Specifies that we are generating a new Angular module.</a:t>
            </a:r>
          </a:p>
          <a:p>
            <a:r>
              <a:rPr lang="en-US" altLang="en-US" sz="2400"/>
              <a:t>profiles – The name of the module being created (ProfilesModule).</a:t>
            </a:r>
          </a:p>
          <a:p>
            <a:r>
              <a:rPr lang="en-US" altLang="en-US" sz="2400"/>
              <a:t>--routing – Also generates a separate routing module (profiles-routing.module.ts) for handling navigation.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Getting into the ‘Core’ Module - creating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Core Module will have the </a:t>
            </a:r>
            <a:r>
              <a:rPr lang="en-US" u="sng"/>
              <a:t>header, footer and landing</a:t>
            </a:r>
            <a:r>
              <a:rPr lang="en-US"/>
              <a:t> page of the application which is basically the </a:t>
            </a:r>
            <a:r>
              <a:rPr lang="en-US" u="sng"/>
              <a:t>layout </a:t>
            </a:r>
            <a:r>
              <a:rPr lang="en-US"/>
              <a:t>of the application.</a:t>
            </a:r>
          </a:p>
          <a:p>
            <a:r>
              <a:rPr lang="en-US"/>
              <a:t>Creating Components inside module:</a:t>
            </a:r>
          </a:p>
          <a:p>
            <a:r>
              <a:rPr lang="en-US" altLang="en-US">
                <a:highlight>
                  <a:srgbClr val="00FFFF"/>
                </a:highlight>
              </a:rPr>
              <a:t>npx ng g c core/components/layout/header</a:t>
            </a:r>
          </a:p>
          <a:p>
            <a:r>
              <a:rPr lang="en-US" altLang="en-US">
                <a:highlight>
                  <a:srgbClr val="00FFFF"/>
                </a:highlight>
              </a:rPr>
              <a:t>npx ng g c core/components/layout/footer</a:t>
            </a:r>
          </a:p>
          <a:p>
            <a:r>
              <a:rPr lang="en-US" altLang="en-US">
                <a:highlight>
                  <a:srgbClr val="00FFFF"/>
                </a:highlight>
              </a:rPr>
              <a:t>npx ng g c core/components/layout/landing</a:t>
            </a:r>
          </a:p>
          <a:p>
            <a:endParaRPr lang="en-US" altLang="en-US">
              <a:highlight>
                <a:srgbClr val="00FFFF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Creation of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highlight>
                  <a:srgbClr val="00FFFF"/>
                </a:highlight>
              </a:rPr>
              <a:t>npx ng g c core/components/layout/header</a:t>
            </a:r>
          </a:p>
          <a:p>
            <a:r>
              <a:rPr lang="en-US" altLang="en-US" sz="2800"/>
              <a:t>npx – Runs a package without installing it globally.</a:t>
            </a:r>
          </a:p>
          <a:p>
            <a:r>
              <a:rPr lang="en-US" altLang="en-US" sz="2800"/>
              <a:t>ng – Angular CLI command.</a:t>
            </a:r>
          </a:p>
          <a:p>
            <a:r>
              <a:rPr lang="en-US" altLang="en-US" sz="2800"/>
              <a:t>g (or generate) – Generates a new Angular entity.</a:t>
            </a:r>
          </a:p>
          <a:p>
            <a:r>
              <a:rPr lang="en-US" altLang="en-US" sz="2800"/>
              <a:t>c (or component) – Specifies that we are generating a new Angular component.</a:t>
            </a:r>
          </a:p>
          <a:p>
            <a:r>
              <a:rPr lang="en-US" altLang="en-US" sz="2800"/>
              <a:t>core/components/layout/header – The folder structure where the component will be created.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app.component.html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It is the main template (view) for the root component (AppComponent) in an Angular application.</a:t>
            </a:r>
          </a:p>
          <a:p>
            <a:r>
              <a:rPr lang="en-US" altLang="en-US"/>
              <a:t>Defines the UI structure for the entire application.</a:t>
            </a:r>
          </a:p>
          <a:p>
            <a:r>
              <a:rPr lang="en-US" altLang="en-US"/>
              <a:t>Used to include other components, such as headers, footers, navigation, and main content.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3: Updating app.component.html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Go to </a:t>
            </a:r>
            <a:r>
              <a:rPr lang="en-US">
                <a:sym typeface="+mn-ea"/>
              </a:rPr>
              <a:t>app.component.html --&gt; remove exisiting content and add the roots for overall layout as follows:</a:t>
            </a:r>
          </a:p>
          <a:p>
            <a:r>
              <a:rPr lang="en-US" altLang="en-US" sz="2400">
                <a:highlight>
                  <a:srgbClr val="00FFFF"/>
                </a:highlight>
              </a:rPr>
              <a:t>&lt;app-header&gt;&lt;/app-header&gt;</a:t>
            </a:r>
          </a:p>
          <a:p>
            <a:r>
              <a:rPr lang="en-US" altLang="en-US" sz="2400">
                <a:highlight>
                  <a:srgbClr val="00FFFF"/>
                </a:highlight>
              </a:rPr>
              <a:t>&lt;app-landing&gt;&lt;/app-landing&gt;</a:t>
            </a:r>
          </a:p>
          <a:p>
            <a:r>
              <a:rPr lang="en-US" altLang="en-US" sz="2400">
                <a:highlight>
                  <a:srgbClr val="00FFFF"/>
                </a:highlight>
              </a:rPr>
              <a:t>&lt;app-footer&gt;&lt;/app-footer&gt;</a:t>
            </a:r>
          </a:p>
          <a:p>
            <a:endParaRPr lang="en-US" altLang="en-US" sz="2400">
              <a:highlight>
                <a:srgbClr val="00FFFF"/>
              </a:highlight>
            </a:endParaRPr>
          </a:p>
          <a:p>
            <a:r>
              <a:rPr lang="en-US" altLang="en-US" sz="2400" b="1"/>
              <a:t>There is an error: since there is no relationship between AppModule and CoreModule which we need to set.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ym typeface="+mn-ea"/>
              </a:rPr>
              <a:t>app.module.ts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/>
              <a:t>app.module.ts is the root module of an Angular application. It is a crucial part of the Angular framework because it defines the structure of the application, organizes components, and manages dependencies.</a:t>
            </a:r>
          </a:p>
          <a:p>
            <a:r>
              <a:rPr lang="en-US" altLang="en-US" sz="2400"/>
              <a:t>Key Points:</a:t>
            </a:r>
          </a:p>
          <a:p>
            <a:pPr lvl="1"/>
            <a:r>
              <a:rPr lang="en-US" altLang="en-US" sz="2100"/>
              <a:t>Module Container: It acts as a container for the different parts of your Angular app (components, services, pipes, and directives).</a:t>
            </a:r>
          </a:p>
          <a:p>
            <a:pPr lvl="1"/>
            <a:r>
              <a:rPr lang="en-US" altLang="en-US" sz="2100"/>
              <a:t>Bootstraping: It defines the root component (usually AppComponent) that Angular uses to bootstrap (start) the application.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Step 4: Setting the relationship between AppModule and CoreModule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Go to app.module.ts --&gt; </a:t>
            </a:r>
          </a:p>
          <a:p>
            <a:r>
              <a:rPr lang="en-US" altLang="en-US" sz="2800"/>
              <a:t>@NgModule is a decorator used to define metadata for the module. It tells Angular how to compile and launch the application.</a:t>
            </a:r>
          </a:p>
          <a:p>
            <a:r>
              <a:rPr lang="en-US" altLang="en-US" sz="2800">
                <a:solidFill>
                  <a:srgbClr val="FF0000"/>
                </a:solidFill>
              </a:rPr>
              <a:t>The error still persists on app.component.html.. check!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97600" y="1352550"/>
            <a:ext cx="5384800" cy="28606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5: Exporting modules in Core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Go to core.module.ts --&gt;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510030" y="1838325"/>
            <a:ext cx="9326245" cy="31730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6: Running the app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highlight>
                  <a:srgbClr val="00FFFF"/>
                </a:highlight>
              </a:rPr>
              <a:t>npx ng serve</a:t>
            </a:r>
          </a:p>
          <a:p>
            <a:r>
              <a:rPr lang="en-US" altLang="en-US" sz="2400"/>
              <a:t>npx – Runs a package without installing it globally. It executes the Angular CLI command (ng) directly without needing a global Angular CLI installation.</a:t>
            </a:r>
          </a:p>
          <a:p>
            <a:r>
              <a:rPr lang="en-US" altLang="en-US" sz="2400"/>
              <a:t>ng – The Angular CLI (Command Line Interface) tool used to interact with Angular applications.</a:t>
            </a:r>
          </a:p>
          <a:p>
            <a:r>
              <a:rPr lang="en-US" altLang="en-US" sz="2400"/>
              <a:t>serve – A command that compiles the Angular app and serves it on a local development server, usually at http://localhost:4200.</a:t>
            </a:r>
          </a:p>
          <a:p>
            <a:r>
              <a:rPr lang="en-US" altLang="en-US" sz="2400"/>
              <a:t>To end the running --&gt; Ctrl + C on Command prompt of VS</a:t>
            </a:r>
          </a:p>
          <a:p>
            <a:r>
              <a:rPr lang="en-US" altLang="en-US" sz="2400"/>
              <a:t>if port is busy: </a:t>
            </a:r>
            <a:r>
              <a:rPr lang="en-US" altLang="en-US" sz="2400">
                <a:highlight>
                  <a:srgbClr val="00FFFF"/>
                </a:highlight>
              </a:rPr>
              <a:t>npx ng serve --port 5600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7: Passing Data between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Ex: Passing name of application to header and footer components</a:t>
            </a:r>
          </a:p>
          <a:p>
            <a:r>
              <a:rPr lang="en-US"/>
              <a:t>Let’s start with header component:</a:t>
            </a:r>
          </a:p>
          <a:p>
            <a:pPr marL="514350" indent="-514350">
              <a:buAutoNum type="arabicPeriod"/>
            </a:pPr>
            <a:r>
              <a:rPr lang="en-US" altLang="en-US" sz="2400"/>
              <a:t>app.component.ts --&gt; change the title property to: --&gt;</a:t>
            </a:r>
          </a:p>
          <a:p>
            <a:pPr marL="514350" indent="-514350">
              <a:buAutoNum type="arabicPeriod"/>
            </a:pPr>
            <a:endParaRPr lang="en-US" altLang="en-US" sz="240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97600" y="2343785"/>
            <a:ext cx="5384800" cy="261429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Passing Data between Components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2. Go to app.component.html --&gt;</a:t>
            </a:r>
          </a:p>
          <a:p>
            <a:pPr marL="0" indent="0">
              <a:buNone/>
            </a:pPr>
            <a:r>
              <a:rPr lang="en-US" altLang="en-US" sz="2800">
                <a:highlight>
                  <a:srgbClr val="00FFFF"/>
                </a:highlight>
              </a:rPr>
              <a:t>&lt;app-header [applicationName]="appName"&gt;&lt;/app-header&gt;</a:t>
            </a:r>
          </a:p>
          <a:p>
            <a:pPr marL="0" indent="0">
              <a:buNone/>
            </a:pPr>
            <a:r>
              <a:rPr lang="en-US"/>
              <a:t>3. </a:t>
            </a:r>
            <a:r>
              <a:rPr lang="en-US">
                <a:sym typeface="+mn-ea"/>
              </a:rPr>
              <a:t>Go to header.component.ts --&gt; inside class add:</a:t>
            </a:r>
            <a:endParaRPr lang="en-US"/>
          </a:p>
          <a:p>
            <a:pPr marL="0" indent="0">
              <a:buNone/>
            </a:pPr>
            <a:r>
              <a:rPr lang="en-US" altLang="en-US">
                <a:highlight>
                  <a:srgbClr val="00FFFF"/>
                </a:highlight>
                <a:sym typeface="+mn-ea"/>
              </a:rPr>
              <a:t>@Input()</a:t>
            </a:r>
            <a:endParaRPr lang="en-US" altLang="en-US">
              <a:highlight>
                <a:srgbClr val="00FFFF"/>
              </a:highlight>
            </a:endParaRPr>
          </a:p>
          <a:p>
            <a:pPr marL="0" indent="0">
              <a:buNone/>
            </a:pPr>
            <a:r>
              <a:rPr lang="en-US" altLang="en-US">
                <a:highlight>
                  <a:srgbClr val="00FFFF"/>
                </a:highlight>
                <a:sym typeface="+mn-ea"/>
              </a:rPr>
              <a:t>  applicationName: string = ' ';</a:t>
            </a:r>
            <a:endParaRPr lang="en-US" altLang="en-US">
              <a:highlight>
                <a:srgbClr val="00FFFF"/>
              </a:highlight>
            </a:endParaRPr>
          </a:p>
          <a:p>
            <a:pPr marL="0" indent="0">
              <a:buNone/>
            </a:pPr>
            <a:r>
              <a:rPr lang="en-US" altLang="en-US">
                <a:sym typeface="+mn-ea"/>
              </a:rPr>
              <a:t>The @Input() decorator marks a property as input-bound, meaning the value of the property can be set by the parent component.</a:t>
            </a:r>
            <a:endParaRPr lang="en-US" alt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Passing Data between Components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4. Go to header.component.html --&gt;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5. Repeat the same for footer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765" y="1747520"/>
            <a:ext cx="6927215" cy="19253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Binding: Interpolation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/>
              <a:t>Interpolation in Angular is a </a:t>
            </a:r>
            <a:r>
              <a:rPr lang="en-US" altLang="en-US" sz="2400" b="1"/>
              <a:t>data binding</a:t>
            </a:r>
            <a:r>
              <a:rPr lang="en-US" altLang="en-US" sz="2400"/>
              <a:t> technique used to embed expressions inside the template HTML. </a:t>
            </a:r>
          </a:p>
          <a:p>
            <a:r>
              <a:rPr lang="en-US" altLang="en-US" sz="2400"/>
              <a:t>It allows you to display dynamic data or expressions from your component class into your template.</a:t>
            </a:r>
          </a:p>
          <a:p>
            <a:r>
              <a:rPr lang="en-US" altLang="en-US" sz="2400"/>
              <a:t>The {{ }} syntax is used for interpolation in Angular.</a:t>
            </a:r>
          </a:p>
          <a:p>
            <a:r>
              <a:rPr lang="en-US" altLang="en-US" sz="2400"/>
              <a:t>The expression inside the curly braces is evaluated and the result is displayed in the HTML view.</a:t>
            </a:r>
          </a:p>
          <a:p>
            <a:r>
              <a:rPr lang="en-US" altLang="en-US" sz="2400"/>
              <a:t>When to Use Interpolation?</a:t>
            </a:r>
          </a:p>
          <a:p>
            <a:pPr lvl="1"/>
            <a:r>
              <a:rPr lang="en-US" altLang="en-US" sz="2100">
                <a:highlight>
                  <a:srgbClr val="00FFFF"/>
                </a:highlight>
              </a:rPr>
              <a:t>Display values of variables.</a:t>
            </a:r>
          </a:p>
          <a:p>
            <a:pPr lvl="1"/>
            <a:r>
              <a:rPr lang="en-US" altLang="en-US" sz="2100"/>
              <a:t>Call methods and display their results in the template.</a:t>
            </a:r>
          </a:p>
          <a:p>
            <a:pPr lvl="1"/>
            <a:r>
              <a:rPr lang="en-US" altLang="en-US" sz="2100"/>
              <a:t>Dynamically insert content into your HTML elements.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8: Adding global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 the application --&gt; src--&gt;styles.css</a:t>
            </a:r>
          </a:p>
          <a:p>
            <a:r>
              <a:rPr lang="en-US"/>
              <a:t>Add the style code inorder to apply styles globally</a:t>
            </a:r>
          </a:p>
          <a:p>
            <a:r>
              <a:rPr lang="en-US"/>
              <a:t>Code given on GCR.</a:t>
            </a:r>
          </a:p>
          <a:p>
            <a:r>
              <a:rPr lang="en-US"/>
              <a:t>Add a folder assets in src</a:t>
            </a:r>
          </a:p>
          <a:p>
            <a:r>
              <a:rPr lang="en-US"/>
              <a:t>add background image url as per the image url</a:t>
            </a:r>
          </a:p>
          <a:p>
            <a:r>
              <a:rPr lang="en-US"/>
              <a:t>edit the same in styles.css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9: Adding html codes to Core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Add html code to header.component.html (GCR)</a:t>
            </a:r>
          </a:p>
          <a:p>
            <a:r>
              <a:rPr lang="en-US"/>
              <a:t>Add html code to landing.component.html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Pipes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 Angular, pipes are a useful feature that allows you to transform data in templates. </a:t>
            </a:r>
          </a:p>
          <a:p>
            <a:r>
              <a:rPr lang="en-US" altLang="en-US" dirty="0"/>
              <a:t>They are simple functions that accept an input value, process it, and return a transformed output. </a:t>
            </a:r>
          </a:p>
          <a:p>
            <a:r>
              <a:rPr lang="en-US" altLang="en-US" dirty="0"/>
              <a:t>Pipes are commonly used for formatting dates, numbers, filtering, and other transformations within the template.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Pipes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Angular provides several built-in pipes, such as:</a:t>
            </a:r>
          </a:p>
          <a:p>
            <a:pPr lvl="1"/>
            <a:r>
              <a:rPr lang="en-US" altLang="en-US"/>
              <a:t>DatePipe: Formats date values.</a:t>
            </a:r>
          </a:p>
          <a:p>
            <a:pPr lvl="1"/>
            <a:r>
              <a:rPr lang="en-US" altLang="en-US"/>
              <a:t>CurrencyPipe: Formats numbers as currency.</a:t>
            </a:r>
          </a:p>
          <a:p>
            <a:pPr lvl="1"/>
            <a:r>
              <a:rPr lang="en-US" altLang="en-US"/>
              <a:t>UpperCasePipe: Converts text to uppercase.</a:t>
            </a:r>
          </a:p>
          <a:p>
            <a:pPr lvl="1"/>
            <a:r>
              <a:rPr lang="en-US" altLang="en-US"/>
              <a:t>LowerCasePipe: Converts text to lowercase.</a:t>
            </a:r>
          </a:p>
          <a:p>
            <a:pPr lvl="1"/>
            <a:r>
              <a:rPr lang="en-US" altLang="en-US"/>
              <a:t>JsonPipe: Transforms an object into a JSON-formatted string.</a:t>
            </a:r>
          </a:p>
          <a:p>
            <a:pPr lvl="1"/>
            <a:r>
              <a:rPr lang="en-US" altLang="en-US"/>
              <a:t>PercentPipe: Formats a number as a percentage.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10: Using Pipe for Date on footer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Go to footer.component.ts--&gt; in the class --&gt; add:</a:t>
            </a:r>
          </a:p>
          <a:p>
            <a:r>
              <a:rPr lang="en-US" altLang="en-US">
                <a:highlight>
                  <a:srgbClr val="00FFFF"/>
                </a:highlight>
              </a:rPr>
              <a:t>currentDate: Date = new Date();</a:t>
            </a:r>
          </a:p>
          <a:p>
            <a:endParaRPr lang="en-US" altLang="en-US">
              <a:highlight>
                <a:srgbClr val="00FFFF"/>
              </a:highlight>
            </a:endParaRPr>
          </a:p>
          <a:p>
            <a:r>
              <a:rPr lang="en-US" altLang="en-US"/>
              <a:t>Go to footer.component.html --&gt; add:</a:t>
            </a:r>
          </a:p>
          <a:p>
            <a:r>
              <a:rPr lang="en-US" altLang="en-US">
                <a:highlight>
                  <a:srgbClr val="00FFFF"/>
                </a:highlight>
              </a:rPr>
              <a:t>&lt;footer&gt;</a:t>
            </a:r>
          </a:p>
          <a:p>
            <a:r>
              <a:rPr lang="en-US" altLang="en-US">
                <a:highlight>
                  <a:srgbClr val="00FFFF"/>
                </a:highlight>
              </a:rPr>
              <a:t>  &amp;copy; {{ applicationName }} {{ currentDate | date : "yyyy-MM" }}</a:t>
            </a:r>
          </a:p>
          <a:p>
            <a:r>
              <a:rPr lang="en-US" altLang="en-US">
                <a:highlight>
                  <a:srgbClr val="00FFFF"/>
                </a:highlight>
              </a:rPr>
              <a:t>&lt;/footer&gt;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Date Format and Pipe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{{ </a:t>
            </a:r>
            <a:r>
              <a:rPr lang="en-IN" dirty="0" err="1"/>
              <a:t>currentDate</a:t>
            </a:r>
            <a:r>
              <a:rPr lang="en-IN" dirty="0"/>
              <a:t> | date:'</a:t>
            </a:r>
            <a:r>
              <a:rPr lang="en-IN" dirty="0" err="1"/>
              <a:t>dd</a:t>
            </a:r>
            <a:r>
              <a:rPr lang="en-IN" dirty="0"/>
              <a:t>-MM-</a:t>
            </a:r>
            <a:r>
              <a:rPr lang="en-IN" dirty="0" err="1"/>
              <a:t>yyyy</a:t>
            </a:r>
            <a:r>
              <a:rPr lang="en-IN" dirty="0"/>
              <a:t>' }}</a:t>
            </a:r>
          </a:p>
          <a:p>
            <a:r>
              <a:rPr lang="en-IN" dirty="0"/>
              <a:t>→ 10-03-2025</a:t>
            </a:r>
          </a:p>
          <a:p>
            <a:endParaRPr lang="en-IN" dirty="0"/>
          </a:p>
          <a:p>
            <a:r>
              <a:rPr lang="en-IN" dirty="0"/>
              <a:t>{{ </a:t>
            </a:r>
            <a:r>
              <a:rPr lang="en-IN" dirty="0" err="1"/>
              <a:t>currentDate</a:t>
            </a:r>
            <a:r>
              <a:rPr lang="en-IN" dirty="0"/>
              <a:t> | date:'</a:t>
            </a:r>
            <a:r>
              <a:rPr lang="en-IN" dirty="0" err="1"/>
              <a:t>fullDate</a:t>
            </a:r>
            <a:r>
              <a:rPr lang="en-IN" dirty="0"/>
              <a:t>' }}</a:t>
            </a:r>
          </a:p>
          <a:p>
            <a:r>
              <a:rPr lang="en-IN" dirty="0"/>
              <a:t>→ Monday, March 10, 2025</a:t>
            </a:r>
          </a:p>
          <a:p>
            <a:endParaRPr lang="en-IN" dirty="0"/>
          </a:p>
          <a:p>
            <a:r>
              <a:rPr lang="en-IN" dirty="0"/>
              <a:t>{{ </a:t>
            </a:r>
            <a:r>
              <a:rPr lang="en-IN" dirty="0" err="1"/>
              <a:t>currentDate</a:t>
            </a:r>
            <a:r>
              <a:rPr lang="en-IN" dirty="0"/>
              <a:t> | date:'</a:t>
            </a:r>
            <a:r>
              <a:rPr lang="en-IN" dirty="0" err="1"/>
              <a:t>shortDate</a:t>
            </a:r>
            <a:r>
              <a:rPr lang="en-IN" dirty="0"/>
              <a:t>' }}</a:t>
            </a:r>
          </a:p>
          <a:p>
            <a:r>
              <a:rPr lang="en-IN" dirty="0"/>
              <a:t>→ 3/10/25</a:t>
            </a:r>
          </a:p>
        </p:txBody>
      </p:sp>
    </p:spTree>
    <p:extLst>
      <p:ext uri="{BB962C8B-B14F-4D97-AF65-F5344CB8AC3E}">
        <p14:creationId xmlns:p14="http://schemas.microsoft.com/office/powerpoint/2010/main" val="23893098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Day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63751" y="2784475"/>
            <a:ext cx="9218083" cy="1752600"/>
          </a:xfrm>
        </p:spPr>
        <p:txBody>
          <a:bodyPr/>
          <a:lstStyle/>
          <a:p>
            <a:r>
              <a:rPr lang="en-US" sz="3600" b="1" dirty="0"/>
              <a:t>The Angular App </a:t>
            </a:r>
            <a:r>
              <a:rPr lang="en-US" sz="3600" b="1" dirty="0" err="1" smtClean="0"/>
              <a:t>cont</a:t>
            </a:r>
            <a:r>
              <a:rPr lang="en-US" sz="3600" b="1" dirty="0" smtClean="0"/>
              <a:t>…Login and Registration </a:t>
            </a:r>
            <a:r>
              <a:rPr lang="en-US" sz="3600" b="1" dirty="0"/>
              <a:t>Pages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Auth</a:t>
            </a:r>
            <a:r>
              <a:rPr lang="en-US" dirty="0"/>
              <a:t> Module</a:t>
            </a:r>
          </a:p>
          <a:p>
            <a:r>
              <a:rPr lang="en-US" dirty="0">
                <a:sym typeface="+mn-ea"/>
              </a:rPr>
              <a:t>Steps for Connection between Core and </a:t>
            </a:r>
            <a:r>
              <a:rPr lang="en-US" dirty="0" err="1">
                <a:sym typeface="+mn-ea"/>
              </a:rPr>
              <a:t>Auth</a:t>
            </a:r>
            <a:r>
              <a:rPr lang="en-US" dirty="0">
                <a:sym typeface="+mn-ea"/>
              </a:rPr>
              <a:t> Module</a:t>
            </a:r>
            <a:endParaRPr lang="en-US" dirty="0"/>
          </a:p>
          <a:p>
            <a:r>
              <a:rPr lang="en-US" dirty="0">
                <a:sym typeface="+mn-ea"/>
              </a:rPr>
              <a:t>Setting routes to Login and Register</a:t>
            </a:r>
          </a:p>
          <a:p>
            <a:r>
              <a:rPr lang="en-US" dirty="0">
                <a:sym typeface="+mn-ea"/>
              </a:rPr>
              <a:t>Upgrading Register/Login Component</a:t>
            </a:r>
          </a:p>
          <a:p>
            <a:r>
              <a:rPr lang="en-US" dirty="0">
                <a:sym typeface="+mn-ea"/>
              </a:rPr>
              <a:t>Validators in </a:t>
            </a:r>
            <a:r>
              <a:rPr lang="en-US" dirty="0" smtClean="0">
                <a:sym typeface="+mn-ea"/>
              </a:rPr>
              <a:t>Angular</a:t>
            </a:r>
          </a:p>
          <a:p>
            <a:r>
              <a:rPr lang="en-US" dirty="0" err="1"/>
              <a:t>ngIf</a:t>
            </a:r>
            <a:r>
              <a:rPr lang="en-US" dirty="0"/>
              <a:t>: Angular If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>
                <a:sym typeface="+mn-ea"/>
              </a:rPr>
              <a:t>Steps for Connection between Core and Auth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Creation of Login and Register Components:</a:t>
            </a:r>
          </a:p>
          <a:p>
            <a:r>
              <a:rPr lang="en-US"/>
              <a:t>Step 1: Create login and register components under auth module:</a:t>
            </a:r>
          </a:p>
          <a:p>
            <a:r>
              <a:rPr lang="en-US">
                <a:highlight>
                  <a:srgbClr val="00FFFF"/>
                </a:highlight>
              </a:rPr>
              <a:t>npx ng g c auth/components/auth/register</a:t>
            </a:r>
          </a:p>
          <a:p>
            <a:r>
              <a:rPr lang="en-US">
                <a:highlight>
                  <a:srgbClr val="00FFFF"/>
                </a:highlight>
              </a:rPr>
              <a:t>npx ng g c auth/components/auth/login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Recollect!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just">
              <a:buFont typeface="+mj-lt"/>
              <a:buAutoNum type="arabicPeriod"/>
            </a:pPr>
            <a:r>
              <a:rPr lang="en-US" altLang="en-US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app-</a:t>
            </a:r>
            <a:r>
              <a:rPr lang="en-US" altLang="en-US" sz="24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routing.module.ts</a:t>
            </a:r>
            <a:r>
              <a:rPr lang="en-US" altLang="en-US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file where you define all the URL paths (routes) for your Angular application. It maps each URL to a specific component, acting like a navigation guide that tells Angular which component to display when a user visits a particular URL.</a:t>
            </a:r>
          </a:p>
          <a:p>
            <a:pPr marL="0" indent="0" algn="just">
              <a:buNone/>
            </a:pPr>
            <a:endParaRPr lang="en-US" alt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What is </a:t>
            </a:r>
            <a:r>
              <a:rPr lang="en-US" altLang="en-US" sz="24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app.module.ts</a:t>
            </a:r>
            <a:r>
              <a:rPr lang="en-US" altLang="en-US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simple words,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app.module.ts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main configuration file of your Angular application. It acts like a blueprint, bringing together all the building blocks of your app by declaring components, directives, and pipes, while also importing essential modules (such as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BrowserModule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RouterModule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that provide necessary functionalities. Additionally, it specifies which component should launch when the app starts, effectively serving as the central hub that wires up and configures your entire application.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9620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2: Setting routes to Login and Register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to app-</a:t>
            </a:r>
            <a:r>
              <a:rPr lang="en-US" dirty="0" err="1"/>
              <a:t>routing.module.ts</a:t>
            </a:r>
            <a:r>
              <a:rPr lang="en-US" dirty="0"/>
              <a:t>: add </a:t>
            </a:r>
            <a:r>
              <a:rPr lang="en-US" dirty="0" err="1"/>
              <a:t>const</a:t>
            </a:r>
            <a:r>
              <a:rPr lang="en-US" dirty="0"/>
              <a:t> routes</a:t>
            </a:r>
          </a:p>
          <a:p>
            <a:pPr marL="0" indent="0">
              <a:buNone/>
            </a:pPr>
            <a:r>
              <a:rPr lang="en-US" altLang="en-US" sz="2400" dirty="0" err="1"/>
              <a:t>const</a:t>
            </a:r>
            <a:r>
              <a:rPr lang="en-US" altLang="en-US" sz="2400" dirty="0"/>
              <a:t> routes: Routes = [</a:t>
            </a:r>
          </a:p>
          <a:p>
            <a:pPr marL="0" indent="0">
              <a:buNone/>
            </a:pPr>
            <a:r>
              <a:rPr lang="en-US" altLang="en-US" sz="2400" dirty="0"/>
              <a:t>  </a:t>
            </a:r>
            <a:r>
              <a:rPr lang="en-US" altLang="en-US" sz="2400" dirty="0">
                <a:highlight>
                  <a:srgbClr val="00FFFF"/>
                </a:highlight>
              </a:rPr>
              <a:t>{</a:t>
            </a:r>
          </a:p>
          <a:p>
            <a:pPr marL="0" indent="0">
              <a:buNone/>
            </a:pPr>
            <a:r>
              <a:rPr lang="en-US" altLang="en-US" sz="2400" dirty="0">
                <a:highlight>
                  <a:srgbClr val="00FFFF"/>
                </a:highlight>
              </a:rPr>
              <a:t>    path: '',</a:t>
            </a:r>
          </a:p>
          <a:p>
            <a:pPr marL="0" indent="0">
              <a:buNone/>
            </a:pPr>
            <a:r>
              <a:rPr lang="en-US" altLang="en-US" sz="2400" dirty="0">
                <a:highlight>
                  <a:srgbClr val="00FFFF"/>
                </a:highlight>
              </a:rPr>
              <a:t>    component: </a:t>
            </a:r>
            <a:r>
              <a:rPr lang="en-US" altLang="en-US" sz="2400" dirty="0" err="1">
                <a:highlight>
                  <a:srgbClr val="00FFFF"/>
                </a:highlight>
              </a:rPr>
              <a:t>LandingComponent</a:t>
            </a:r>
            <a:r>
              <a:rPr lang="en-US" altLang="en-US" sz="2400" dirty="0">
                <a:highlight>
                  <a:srgbClr val="00FFFF"/>
                </a:highlight>
              </a:rPr>
              <a:t>,</a:t>
            </a:r>
          </a:p>
          <a:p>
            <a:pPr marL="0" indent="0">
              <a:buNone/>
            </a:pPr>
            <a:r>
              <a:rPr lang="en-US" altLang="en-US" sz="2400" dirty="0">
                <a:highlight>
                  <a:srgbClr val="00FFFF"/>
                </a:highlight>
              </a:rPr>
              <a:t>  },</a:t>
            </a:r>
          </a:p>
          <a:p>
            <a:pPr marL="0" indent="0">
              <a:buNone/>
            </a:pPr>
            <a:r>
              <a:rPr lang="en-US" altLang="en-US" sz="2400" dirty="0">
                <a:highlight>
                  <a:srgbClr val="00FFFF"/>
                </a:highlight>
              </a:rPr>
              <a:t>  {</a:t>
            </a:r>
          </a:p>
          <a:p>
            <a:pPr marL="0" indent="0">
              <a:buNone/>
            </a:pPr>
            <a:r>
              <a:rPr lang="en-US" altLang="en-US" sz="2400" dirty="0">
                <a:highlight>
                  <a:srgbClr val="00FFFF"/>
                </a:highlight>
              </a:rPr>
              <a:t>    path: '</a:t>
            </a:r>
            <a:r>
              <a:rPr lang="en-US" altLang="en-US" sz="2400" dirty="0" err="1">
                <a:highlight>
                  <a:srgbClr val="00FFFF"/>
                </a:highlight>
              </a:rPr>
              <a:t>auth</a:t>
            </a:r>
            <a:r>
              <a:rPr lang="en-US" altLang="en-US" sz="2400" dirty="0">
                <a:highlight>
                  <a:srgbClr val="00FFFF"/>
                </a:highlight>
              </a:rPr>
              <a:t>',</a:t>
            </a:r>
          </a:p>
          <a:p>
            <a:pPr marL="0" indent="0">
              <a:buNone/>
            </a:pPr>
            <a:r>
              <a:rPr lang="en-US" altLang="en-US" sz="2400" dirty="0">
                <a:highlight>
                  <a:srgbClr val="00FFFF"/>
                </a:highlight>
              </a:rPr>
              <a:t>    </a:t>
            </a:r>
            <a:r>
              <a:rPr lang="en-US" altLang="en-US" sz="2400" dirty="0" err="1">
                <a:highlight>
                  <a:srgbClr val="00FFFF"/>
                </a:highlight>
              </a:rPr>
              <a:t>loadChildren</a:t>
            </a:r>
            <a:r>
              <a:rPr lang="en-US" altLang="en-US" sz="2400" dirty="0">
                <a:highlight>
                  <a:srgbClr val="00FFFF"/>
                </a:highlight>
              </a:rPr>
              <a:t>: () =&gt; import('./</a:t>
            </a:r>
            <a:r>
              <a:rPr lang="en-US" altLang="en-US" sz="2400" dirty="0" err="1">
                <a:highlight>
                  <a:srgbClr val="00FFFF"/>
                </a:highlight>
              </a:rPr>
              <a:t>auth</a:t>
            </a:r>
            <a:r>
              <a:rPr lang="en-US" altLang="en-US" sz="2400" dirty="0">
                <a:highlight>
                  <a:srgbClr val="00FFFF"/>
                </a:highlight>
              </a:rPr>
              <a:t>/</a:t>
            </a:r>
            <a:r>
              <a:rPr lang="en-US" altLang="en-US" sz="2400" dirty="0" err="1">
                <a:highlight>
                  <a:srgbClr val="00FFFF"/>
                </a:highlight>
              </a:rPr>
              <a:t>auth.module</a:t>
            </a:r>
            <a:r>
              <a:rPr lang="en-US" altLang="en-US" sz="2400" dirty="0">
                <a:highlight>
                  <a:srgbClr val="00FFFF"/>
                </a:highlight>
              </a:rPr>
              <a:t>').then((m) =&gt; </a:t>
            </a:r>
            <a:r>
              <a:rPr lang="en-US" altLang="en-US" sz="2400" dirty="0" err="1">
                <a:highlight>
                  <a:srgbClr val="00FFFF"/>
                </a:highlight>
              </a:rPr>
              <a:t>m.AuthModule</a:t>
            </a:r>
            <a:r>
              <a:rPr lang="en-US" altLang="en-US" sz="2400" dirty="0">
                <a:highlight>
                  <a:srgbClr val="00FFFF"/>
                </a:highlight>
              </a:rPr>
              <a:t>),</a:t>
            </a:r>
          </a:p>
          <a:p>
            <a:pPr marL="0" indent="0">
              <a:buNone/>
            </a:pPr>
            <a:r>
              <a:rPr lang="en-US" altLang="en-US" sz="2400" dirty="0">
                <a:highlight>
                  <a:srgbClr val="00FFFF"/>
                </a:highlight>
              </a:rPr>
              <a:t>  },</a:t>
            </a:r>
          </a:p>
          <a:p>
            <a:pPr marL="0" indent="0">
              <a:buNone/>
            </a:pPr>
            <a:r>
              <a:rPr lang="en-US" altLang="en-US" sz="2400" dirty="0"/>
              <a:t>];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2: Setting routes to Login and Register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09600" y="1459578"/>
            <a:ext cx="109728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kumimoji="0" lang="en-US" altLang="en-US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routes: Routes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hangingPunct="0">
              <a:spcBef>
                <a:spcPct val="0"/>
              </a:spcBef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a declaration that creates a constant variable named routes and specifies that its type is Routes. </a:t>
            </a:r>
          </a:p>
          <a:p>
            <a:pPr algn="just" eaLnBrk="0" hangingPunct="0">
              <a:spcBef>
                <a:spcPct val="0"/>
              </a:spcBef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Angular, Routes is an array that holds your route configuration objects, which define how URL paths map to components in your application. </a:t>
            </a:r>
          </a:p>
        </p:txBody>
      </p:sp>
    </p:spTree>
    <p:extLst>
      <p:ext uri="{BB962C8B-B14F-4D97-AF65-F5344CB8AC3E}">
        <p14:creationId xmlns:p14="http://schemas.microsoft.com/office/powerpoint/2010/main" val="8122273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Setting routes to Login and Register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dirty="0"/>
              <a:t>The first route:</a:t>
            </a:r>
          </a:p>
          <a:p>
            <a:r>
              <a:rPr lang="en-US" altLang="en-US" sz="2000" dirty="0"/>
              <a:t>path: '' (empty string), represents the default route when the application loads.</a:t>
            </a:r>
          </a:p>
          <a:p>
            <a:r>
              <a:rPr lang="en-US" altLang="en-US" sz="2000" dirty="0"/>
              <a:t>This route maps to </a:t>
            </a:r>
            <a:r>
              <a:rPr lang="en-US" altLang="en-US" sz="2000" dirty="0" err="1"/>
              <a:t>LandingComponent</a:t>
            </a:r>
            <a:r>
              <a:rPr lang="en-US" altLang="en-US" sz="2000" dirty="0"/>
              <a:t>, meaning that when the user visits the base URL (e.g., http://localhost:4200/), Angular loads </a:t>
            </a:r>
            <a:r>
              <a:rPr lang="en-US" altLang="en-US" sz="2000" dirty="0" err="1"/>
              <a:t>LandingComponent</a:t>
            </a:r>
            <a:r>
              <a:rPr lang="en-US" altLang="en-US" sz="2000" dirty="0"/>
              <a:t>.</a:t>
            </a:r>
          </a:p>
          <a:p>
            <a:r>
              <a:rPr lang="en-US" altLang="en-US" sz="2000" dirty="0"/>
              <a:t>The second route:</a:t>
            </a:r>
          </a:p>
          <a:p>
            <a:r>
              <a:rPr lang="en-US" altLang="en-US" sz="2000" dirty="0"/>
              <a:t>path: '</a:t>
            </a:r>
            <a:r>
              <a:rPr lang="en-US" altLang="en-US" sz="2000" dirty="0" err="1"/>
              <a:t>auth</a:t>
            </a:r>
            <a:r>
              <a:rPr lang="en-US" altLang="en-US" sz="2000" dirty="0"/>
              <a:t>': This means that any URL that starts with /</a:t>
            </a:r>
            <a:r>
              <a:rPr lang="en-US" altLang="en-US" sz="2000" dirty="0" err="1"/>
              <a:t>auth</a:t>
            </a:r>
            <a:r>
              <a:rPr lang="en-US" altLang="en-US" sz="2000" dirty="0"/>
              <a:t> will be handled by this route.</a:t>
            </a:r>
          </a:p>
          <a:p>
            <a:r>
              <a:rPr lang="en-US" altLang="en-US" sz="2000" dirty="0" err="1"/>
              <a:t>loadChildren</a:t>
            </a:r>
            <a:r>
              <a:rPr lang="en-US" altLang="en-US" sz="2000" dirty="0"/>
              <a:t>: This is used for lazy loading, meaning that the </a:t>
            </a:r>
            <a:r>
              <a:rPr lang="en-US" altLang="en-US" sz="2000" dirty="0" err="1"/>
              <a:t>AuthModule</a:t>
            </a:r>
            <a:r>
              <a:rPr lang="en-US" altLang="en-US" sz="2000" dirty="0"/>
              <a:t> will only be loaded when the user navigates to the /</a:t>
            </a:r>
            <a:r>
              <a:rPr lang="en-US" altLang="en-US" sz="2000" dirty="0" err="1"/>
              <a:t>auth</a:t>
            </a:r>
            <a:r>
              <a:rPr lang="en-US" altLang="en-US" sz="2000" dirty="0"/>
              <a:t> route.</a:t>
            </a:r>
          </a:p>
          <a:p>
            <a:r>
              <a:rPr lang="en-US" altLang="en-US" sz="2000" dirty="0"/>
              <a:t>import('./</a:t>
            </a:r>
            <a:r>
              <a:rPr lang="en-US" altLang="en-US" sz="2000" dirty="0" err="1"/>
              <a:t>auth</a:t>
            </a:r>
            <a:r>
              <a:rPr lang="en-US" altLang="en-US" sz="2000" dirty="0"/>
              <a:t>/</a:t>
            </a:r>
            <a:r>
              <a:rPr lang="en-US" altLang="en-US" sz="2000" dirty="0" err="1"/>
              <a:t>auth.module</a:t>
            </a:r>
            <a:r>
              <a:rPr lang="en-US" altLang="en-US" sz="2000" dirty="0"/>
              <a:t>').then((m) =&gt; </a:t>
            </a:r>
            <a:r>
              <a:rPr lang="en-US" altLang="en-US" sz="2000" dirty="0" err="1"/>
              <a:t>m.AuthModule</a:t>
            </a:r>
            <a:r>
              <a:rPr lang="en-US" altLang="en-US" sz="2000" dirty="0"/>
              <a:t>): This syntax dynamically imports the </a:t>
            </a:r>
            <a:r>
              <a:rPr lang="en-US" altLang="en-US" sz="2000" dirty="0" err="1"/>
              <a:t>AuthModule</a:t>
            </a:r>
            <a:r>
              <a:rPr lang="en-US" altLang="en-US" sz="2000" dirty="0"/>
              <a:t>, which helps improve performance.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Adding </a:t>
            </a:r>
            <a:r>
              <a:rPr lang="en-US" dirty="0" err="1"/>
              <a:t>RouterModule</a:t>
            </a:r>
            <a:r>
              <a:rPr lang="en-US" dirty="0"/>
              <a:t> in </a:t>
            </a:r>
            <a:r>
              <a:rPr lang="en-US" dirty="0" err="1"/>
              <a:t>app.module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is </a:t>
            </a:r>
            <a:r>
              <a:rPr lang="en-US" altLang="en-US" sz="2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RouterModule</a:t>
            </a:r>
            <a:r>
              <a:rPr lang="en-US" altLang="en-US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endParaRPr lang="en-US" altLang="en-US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09600" y="1729807"/>
            <a:ext cx="1075047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RouterModule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is part of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Angular’s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router package. It provides routing features, letting you navigate between components in your Angular app.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lets you: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Define Routes: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Map URLs to components.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Navigate Between Views: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 directives like [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routerLink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and &lt;router-outlet&gt; to move between different pages or views without reloading the page.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Configure Routing: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Set up routing with methods like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RouterModule.forRoot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or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RouterModule.forChild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short, it manages the navigation logic of your Angular application.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3: Adding RouterModule in app.module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to </a:t>
            </a:r>
            <a:r>
              <a:rPr lang="en-US" dirty="0" err="1"/>
              <a:t>app.module.ts</a:t>
            </a:r>
            <a:r>
              <a:rPr lang="en-US" dirty="0"/>
              <a:t>: in the imports array:</a:t>
            </a:r>
          </a:p>
          <a:p>
            <a:r>
              <a:rPr lang="en-US" dirty="0"/>
              <a:t>Add </a:t>
            </a:r>
            <a:r>
              <a:rPr lang="en-US" dirty="0" err="1">
                <a:highlight>
                  <a:srgbClr val="00FFFF"/>
                </a:highlight>
              </a:rPr>
              <a:t>RouterModule</a:t>
            </a:r>
            <a:r>
              <a:rPr lang="en-US" dirty="0"/>
              <a:t> (before </a:t>
            </a:r>
            <a:r>
              <a:rPr lang="en-US" dirty="0" err="1"/>
              <a:t>AppRoutingModule</a:t>
            </a:r>
            <a:r>
              <a:rPr lang="en-US" dirty="0"/>
              <a:t>)</a:t>
            </a:r>
          </a:p>
          <a:p>
            <a:pPr lvl="1"/>
            <a:r>
              <a:rPr lang="en-US" altLang="en-US" dirty="0" err="1"/>
              <a:t>RouterModule</a:t>
            </a:r>
            <a:r>
              <a:rPr lang="en-US" altLang="en-US" dirty="0"/>
              <a:t>: Enables routing functionality to define application navigation.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995" y="3494405"/>
            <a:ext cx="10039350" cy="195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0777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Add routes to </a:t>
            </a:r>
            <a:r>
              <a:rPr lang="en-US" dirty="0" err="1"/>
              <a:t>auth-routing.module.ts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routes of login and register component:</a:t>
            </a:r>
          </a:p>
          <a:p>
            <a:pPr marL="0" indent="0">
              <a:buNone/>
            </a:pPr>
            <a:r>
              <a:rPr lang="en-US" altLang="en-US" sz="2400" dirty="0" err="1">
                <a:highlight>
                  <a:srgbClr val="00FFFF"/>
                </a:highlight>
              </a:rPr>
              <a:t>const</a:t>
            </a:r>
            <a:r>
              <a:rPr lang="en-US" altLang="en-US" sz="2400" dirty="0">
                <a:highlight>
                  <a:srgbClr val="00FFFF"/>
                </a:highlight>
              </a:rPr>
              <a:t> routes: Routes = [</a:t>
            </a:r>
          </a:p>
          <a:p>
            <a:pPr marL="0" indent="0">
              <a:buNone/>
            </a:pPr>
            <a:r>
              <a:rPr lang="en-US" altLang="en-US" sz="2400" dirty="0">
                <a:highlight>
                  <a:srgbClr val="00FFFF"/>
                </a:highlight>
              </a:rPr>
              <a:t>  {</a:t>
            </a:r>
          </a:p>
          <a:p>
            <a:pPr marL="0" indent="0">
              <a:buNone/>
            </a:pPr>
            <a:r>
              <a:rPr lang="en-US" altLang="en-US" sz="2400" dirty="0">
                <a:highlight>
                  <a:srgbClr val="00FFFF"/>
                </a:highlight>
              </a:rPr>
              <a:t>    path: 'login',</a:t>
            </a:r>
          </a:p>
          <a:p>
            <a:pPr marL="0" indent="0">
              <a:buNone/>
            </a:pPr>
            <a:r>
              <a:rPr lang="en-US" altLang="en-US" sz="2400" dirty="0">
                <a:highlight>
                  <a:srgbClr val="00FFFF"/>
                </a:highlight>
              </a:rPr>
              <a:t>    component: </a:t>
            </a:r>
            <a:r>
              <a:rPr lang="en-US" altLang="en-US" sz="2400" dirty="0" err="1">
                <a:highlight>
                  <a:srgbClr val="00FFFF"/>
                </a:highlight>
              </a:rPr>
              <a:t>LoginComponent</a:t>
            </a:r>
            <a:r>
              <a:rPr lang="en-US" altLang="en-US" sz="2400" dirty="0">
                <a:highlight>
                  <a:srgbClr val="00FFFF"/>
                </a:highlight>
              </a:rPr>
              <a:t>,</a:t>
            </a:r>
          </a:p>
          <a:p>
            <a:pPr marL="0" indent="0">
              <a:buNone/>
            </a:pPr>
            <a:r>
              <a:rPr lang="en-US" altLang="en-US" sz="2400" dirty="0">
                <a:highlight>
                  <a:srgbClr val="00FFFF"/>
                </a:highlight>
              </a:rPr>
              <a:t>  },</a:t>
            </a:r>
          </a:p>
          <a:p>
            <a:pPr marL="0" indent="0">
              <a:buNone/>
            </a:pPr>
            <a:r>
              <a:rPr lang="en-US" altLang="en-US" sz="2400" dirty="0">
                <a:highlight>
                  <a:srgbClr val="00FFFF"/>
                </a:highlight>
              </a:rPr>
              <a:t>  {</a:t>
            </a:r>
          </a:p>
          <a:p>
            <a:pPr marL="0" indent="0">
              <a:buNone/>
            </a:pPr>
            <a:r>
              <a:rPr lang="en-US" altLang="en-US" sz="2400" dirty="0">
                <a:highlight>
                  <a:srgbClr val="00FFFF"/>
                </a:highlight>
              </a:rPr>
              <a:t>    path: 'register',</a:t>
            </a:r>
          </a:p>
          <a:p>
            <a:pPr marL="0" indent="0">
              <a:buNone/>
            </a:pPr>
            <a:r>
              <a:rPr lang="en-US" altLang="en-US" sz="2400" dirty="0">
                <a:highlight>
                  <a:srgbClr val="00FFFF"/>
                </a:highlight>
              </a:rPr>
              <a:t>    component: </a:t>
            </a:r>
            <a:r>
              <a:rPr lang="en-US" altLang="en-US" sz="2400" dirty="0" err="1">
                <a:highlight>
                  <a:srgbClr val="00FFFF"/>
                </a:highlight>
              </a:rPr>
              <a:t>RegisterComponent</a:t>
            </a:r>
            <a:r>
              <a:rPr lang="en-US" altLang="en-US" sz="2400" dirty="0">
                <a:highlight>
                  <a:srgbClr val="00FFFF"/>
                </a:highlight>
              </a:rPr>
              <a:t>,</a:t>
            </a:r>
          </a:p>
          <a:p>
            <a:pPr marL="0" indent="0">
              <a:buNone/>
            </a:pPr>
            <a:r>
              <a:rPr lang="en-US" altLang="en-US" sz="2400" dirty="0">
                <a:highlight>
                  <a:srgbClr val="00FFFF"/>
                </a:highlight>
              </a:rPr>
              <a:t>  },</a:t>
            </a:r>
          </a:p>
          <a:p>
            <a:pPr marL="0" indent="0">
              <a:buNone/>
            </a:pPr>
            <a:r>
              <a:rPr lang="en-US" altLang="en-US" sz="2400" dirty="0">
                <a:highlight>
                  <a:srgbClr val="00FFFF"/>
                </a:highlight>
              </a:rPr>
              <a:t>];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8040" y="1764665"/>
            <a:ext cx="5849620" cy="351218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5: html file updates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to app.component.html:</a:t>
            </a:r>
          </a:p>
          <a:p>
            <a:r>
              <a:rPr lang="en-US" dirty="0"/>
              <a:t>update &lt;app-landing&gt; to </a:t>
            </a:r>
            <a:r>
              <a:rPr lang="en-US" dirty="0">
                <a:highlight>
                  <a:srgbClr val="00FFFF"/>
                </a:highlight>
              </a:rPr>
              <a:t>&lt;router-outlet&gt;&lt;/router-outlet&gt;</a:t>
            </a:r>
          </a:p>
          <a:p>
            <a:pPr lvl="1"/>
            <a:r>
              <a:rPr lang="en-US" altLang="en-US" sz="2450" dirty="0"/>
              <a:t>The &lt;router-outlet&gt; directive is a placeholder where Angular dynamically loads and displays components based on the current route.</a:t>
            </a:r>
            <a:endParaRPr lang="en-US" dirty="0"/>
          </a:p>
          <a:p>
            <a:r>
              <a:rPr lang="en-US" dirty="0"/>
              <a:t>Go to header.component.html: update a </a:t>
            </a:r>
            <a:r>
              <a:rPr lang="en-US" dirty="0" err="1"/>
              <a:t>href</a:t>
            </a:r>
            <a:r>
              <a:rPr lang="en-US" dirty="0"/>
              <a:t> to :</a:t>
            </a:r>
          </a:p>
          <a:p>
            <a:r>
              <a:rPr lang="en-US" altLang="en-US" dirty="0">
                <a:highlight>
                  <a:srgbClr val="00FFFF"/>
                </a:highlight>
              </a:rPr>
              <a:t>&lt;li&gt;&lt;a [</a:t>
            </a:r>
            <a:r>
              <a:rPr lang="en-US" altLang="en-US" dirty="0" err="1">
                <a:highlight>
                  <a:srgbClr val="00FFFF"/>
                </a:highlight>
              </a:rPr>
              <a:t>routerLink</a:t>
            </a:r>
            <a:r>
              <a:rPr lang="en-US" altLang="en-US" dirty="0">
                <a:highlight>
                  <a:srgbClr val="00FFFF"/>
                </a:highlight>
              </a:rPr>
              <a:t>]="['/</a:t>
            </a:r>
            <a:r>
              <a:rPr lang="en-US" altLang="en-US" dirty="0" err="1">
                <a:highlight>
                  <a:srgbClr val="00FFFF"/>
                </a:highlight>
              </a:rPr>
              <a:t>auth</a:t>
            </a:r>
            <a:r>
              <a:rPr lang="en-US" altLang="en-US" dirty="0">
                <a:highlight>
                  <a:srgbClr val="00FFFF"/>
                </a:highlight>
              </a:rPr>
              <a:t>/register']"&gt;Register&lt;/a&gt;&lt;/li&gt;</a:t>
            </a:r>
          </a:p>
          <a:p>
            <a:r>
              <a:rPr lang="en-US" altLang="en-US" dirty="0">
                <a:highlight>
                  <a:srgbClr val="00FFFF"/>
                </a:highlight>
              </a:rPr>
              <a:t>&lt;li&gt;&lt;a [</a:t>
            </a:r>
            <a:r>
              <a:rPr lang="en-US" altLang="en-US" dirty="0" err="1">
                <a:highlight>
                  <a:srgbClr val="00FFFF"/>
                </a:highlight>
              </a:rPr>
              <a:t>routerLink</a:t>
            </a:r>
            <a:r>
              <a:rPr lang="en-US" altLang="en-US" dirty="0">
                <a:highlight>
                  <a:srgbClr val="00FFFF"/>
                </a:highlight>
              </a:rPr>
              <a:t>]="['/</a:t>
            </a:r>
            <a:r>
              <a:rPr lang="en-US" altLang="en-US" dirty="0" err="1">
                <a:highlight>
                  <a:srgbClr val="00FFFF"/>
                </a:highlight>
              </a:rPr>
              <a:t>auth</a:t>
            </a:r>
            <a:r>
              <a:rPr lang="en-US" altLang="en-US" dirty="0">
                <a:highlight>
                  <a:srgbClr val="00FFFF"/>
                </a:highlight>
              </a:rPr>
              <a:t>/login']"&gt;Login&lt;/a&gt;&lt;/li&gt;</a:t>
            </a:r>
          </a:p>
          <a:p>
            <a:pPr lvl="1"/>
            <a:r>
              <a:rPr lang="en-US" altLang="en-US" sz="2400" dirty="0"/>
              <a:t>[</a:t>
            </a:r>
            <a:r>
              <a:rPr lang="en-US" altLang="en-US" sz="2400" dirty="0" err="1"/>
              <a:t>routerLink</a:t>
            </a:r>
            <a:r>
              <a:rPr lang="en-US" altLang="en-US" sz="2400" dirty="0"/>
              <a:t>] is an Angular directive that binds a component’s route to a clickable link.</a:t>
            </a:r>
          </a:p>
          <a:p>
            <a:pPr lvl="1"/>
            <a:r>
              <a:rPr lang="en-US" altLang="en-US" sz="2400" dirty="0"/>
              <a:t>When the user clicks on the link, Angular navigates to the corresponding route without reloading the rest of the page.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Step 6: Add Dynamic routing to </a:t>
            </a:r>
            <a:r>
              <a:rPr lang="en-US" sz="2800" dirty="0" smtClean="0"/>
              <a:t>Core Module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to </a:t>
            </a:r>
            <a:r>
              <a:rPr lang="en-US" dirty="0" err="1"/>
              <a:t>core.module.ts</a:t>
            </a:r>
            <a:r>
              <a:rPr lang="en-US" dirty="0"/>
              <a:t> --&gt;</a:t>
            </a:r>
          </a:p>
          <a:p>
            <a:r>
              <a:rPr lang="en-US" dirty="0"/>
              <a:t>add </a:t>
            </a:r>
            <a:r>
              <a:rPr lang="en-US" dirty="0" err="1"/>
              <a:t>AppRoutingModule</a:t>
            </a:r>
            <a:r>
              <a:rPr lang="en-US" dirty="0"/>
              <a:t> in imports array declaration as follows: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991485"/>
            <a:ext cx="10873105" cy="234061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Actual Look and feel of Register/Login </a:t>
            </a:r>
            <a:r>
              <a:rPr lang="en-US" sz="2800" dirty="0"/>
              <a:t>Component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html code to register.component.html &amp; login.component.html from GCR day 3 codes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Check if your application is navigating from Landing page to Login and Register and both the pages have the web elements in their display!!</a:t>
            </a:r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ReactiveFormsModule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In Angular, form validation is handled using Reactive Forms and Form </a:t>
            </a:r>
            <a:r>
              <a:rPr lang="en-US" altLang="en-US" sz="2400" dirty="0" smtClean="0"/>
              <a:t>Validators.</a:t>
            </a:r>
          </a:p>
          <a:p>
            <a:r>
              <a:rPr lang="en-US" sz="2400" b="1" dirty="0" err="1"/>
              <a:t>ReactiveFormsModule</a:t>
            </a:r>
            <a:r>
              <a:rPr lang="en-US" sz="2400" dirty="0"/>
              <a:t> is an Angular module that helps you build and manage forms in a more structured way using code. Instead of relying solely on the template, you define the form's structure, validation, and behavior in your component using </a:t>
            </a:r>
            <a:r>
              <a:rPr lang="en-US" sz="2400" dirty="0" err="1"/>
              <a:t>TypeScript</a:t>
            </a:r>
            <a:r>
              <a:rPr lang="en-US" sz="2400" dirty="0"/>
              <a:t>. </a:t>
            </a:r>
            <a:endParaRPr lang="en-US" altLang="en-US" sz="2400" dirty="0" smtClean="0"/>
          </a:p>
          <a:p>
            <a:r>
              <a:rPr lang="en-US" sz="2400" b="1" dirty="0" err="1" smtClean="0"/>
              <a:t>ReactiveFormsModule</a:t>
            </a:r>
            <a:r>
              <a:rPr lang="en-US" sz="2400" dirty="0" smtClean="0"/>
              <a:t> </a:t>
            </a:r>
            <a:r>
              <a:rPr lang="en-US" sz="2400" dirty="0"/>
              <a:t>is an alternative to the </a:t>
            </a:r>
            <a:r>
              <a:rPr lang="en-US" sz="2400" b="1" dirty="0" err="1"/>
              <a:t>FormsModule</a:t>
            </a:r>
            <a:r>
              <a:rPr lang="en-US" sz="2400" dirty="0"/>
              <a:t> in </a:t>
            </a:r>
            <a:r>
              <a:rPr lang="en-US" sz="2400" dirty="0" smtClean="0"/>
              <a:t>Angular.</a:t>
            </a:r>
          </a:p>
          <a:p>
            <a:r>
              <a:rPr lang="en-US" sz="2400" dirty="0" smtClean="0"/>
              <a:t>While </a:t>
            </a:r>
            <a:r>
              <a:rPr lang="en-US" sz="2400" b="1" dirty="0" err="1"/>
              <a:t>FormsModule</a:t>
            </a:r>
            <a:r>
              <a:rPr lang="en-US" sz="2400" dirty="0"/>
              <a:t> supports template-driven forms, where most of the logic and validation is handled in the HTML template, </a:t>
            </a:r>
            <a:r>
              <a:rPr lang="en-US" sz="2400" b="1" dirty="0" err="1"/>
              <a:t>ReactiveFormsModule</a:t>
            </a:r>
            <a:r>
              <a:rPr lang="en-US" sz="2400" dirty="0"/>
              <a:t> lets you manage the form's structure and logic entirely in your </a:t>
            </a:r>
            <a:r>
              <a:rPr lang="en-US" sz="2400" dirty="0" err="1"/>
              <a:t>TypeScript</a:t>
            </a:r>
            <a:r>
              <a:rPr lang="en-US" sz="2400" dirty="0"/>
              <a:t> code, offering a more robust and scalable approach for complex form scenarios.</a:t>
            </a:r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ReactiveFormsModule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09600" y="1123724"/>
            <a:ext cx="109728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Inside the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ReactiveFormsModule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you’ll find all the tools you need to build and manage reactive forms in Angular. This includes: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Classes for Building Forms: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1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FormControl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Represents a single form control (input field).</a:t>
            </a:r>
          </a:p>
          <a:p>
            <a:pPr marR="0" lvl="1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FormGroup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Groups multiple form controls into a single unit.</a:t>
            </a:r>
          </a:p>
          <a:p>
            <a:pPr marR="0" lvl="1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FormArray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Manages an array of form controls.</a:t>
            </a:r>
          </a:p>
          <a:p>
            <a:pPr marR="0" lvl="1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FormBuilder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 service that helps you create form controls and groups more easily.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96713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Example for Classes of </a:t>
            </a:r>
            <a:r>
              <a:rPr lang="en-US" sz="3200" dirty="0" err="1" smtClean="0"/>
              <a:t>ReactiveFormsModule</a:t>
            </a:r>
            <a:endParaRPr lang="en-US" sz="3200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93986" y="1123634"/>
            <a:ext cx="10972800" cy="4878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Let's consider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example—a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application form where you need to collect personal details, address information, and a list of previous work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experiences: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FormControl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 of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FormControl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an individual input field. For example, a field to capture the applicant's first name.</a:t>
            </a:r>
          </a:p>
          <a:p>
            <a:pPr algn="just"/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FormGroup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FormGroup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collection of related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FormControls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 our job application form, you might group the first name, last name, and email into a "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personalDetails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FormGroup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since they belong together logically.</a:t>
            </a:r>
          </a:p>
          <a:p>
            <a:pPr algn="just"/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FormArray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FormArray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you to manage a dynamic list of form controls or even groups. For instance, the applicant might have multiple work experiences. Each experience can be represented as 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FormGroup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collection of these groups can be managed in 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FormArray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called "experiences." This is useful because the number of experiences may vary from one applicant to another.</a:t>
            </a:r>
          </a:p>
          <a:p>
            <a:pPr algn="just"/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FormBuilder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FormBuilder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helper service that simplifies creating form controls, groups, and arrays. Instead of manually creating each instance of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FormControl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FormGroup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FormBuilder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cleaner, more concise way to build the entire form structure.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75691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Validators in Angular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 Angular, form validation is handled using Reactive Forms and Form Validators.</a:t>
            </a:r>
          </a:p>
          <a:p>
            <a:r>
              <a:rPr lang="en-US" altLang="en-US" dirty="0"/>
              <a:t>Import </a:t>
            </a:r>
            <a:r>
              <a:rPr lang="en-US" altLang="en-US" dirty="0" err="1"/>
              <a:t>ReactiveFormsModule</a:t>
            </a:r>
            <a:r>
              <a:rPr lang="en-US" altLang="en-US" dirty="0"/>
              <a:t> in </a:t>
            </a:r>
            <a:r>
              <a:rPr lang="en-US" altLang="en-US" dirty="0" err="1"/>
              <a:t>app.module.ts</a:t>
            </a:r>
            <a:r>
              <a:rPr lang="en-US" altLang="en-US" dirty="0"/>
              <a:t> in imports[] array and in </a:t>
            </a:r>
            <a:r>
              <a:rPr lang="en-US" altLang="en-US" dirty="0" err="1"/>
              <a:t>auth.module.ts</a:t>
            </a:r>
            <a:r>
              <a:rPr lang="en-US" altLang="en-US" dirty="0"/>
              <a:t>	</a:t>
            </a:r>
          </a:p>
          <a:p>
            <a:pPr marL="0" indent="0">
              <a:buNone/>
            </a:pP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8841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Steps </a:t>
            </a:r>
            <a:r>
              <a:rPr lang="en-US" altLang="en-US" dirty="0"/>
              <a:t>for adding validators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" indent="0">
              <a:buNone/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Go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login.component.ts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--&gt; and create an object of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FormGroup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" indent="0">
              <a:buNone/>
            </a:pPr>
            <a:r>
              <a:rPr lang="en-US" altLang="en-US" sz="2800" dirty="0" err="1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loginForm</a:t>
            </a:r>
            <a:r>
              <a:rPr lang="en-US" altLang="en-US" sz="28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800" dirty="0" err="1" smtClean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FormGroup</a:t>
            </a:r>
            <a:r>
              <a:rPr lang="en-US" altLang="en-US" sz="2800" dirty="0" smtClean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57150" indent="0">
              <a:buNone/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Add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Constructor that declares object of </a:t>
            </a:r>
            <a:r>
              <a:rPr lang="en-US" alt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FormGroup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altLang="en-US" sz="28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constructor(private fb: </a:t>
            </a:r>
            <a:r>
              <a:rPr lang="en-US" altLang="en-US" sz="2800" dirty="0" err="1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FormBuilder</a:t>
            </a:r>
            <a:r>
              <a:rPr lang="en-US" altLang="en-US" sz="28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>
              <a:buNone/>
            </a:pPr>
            <a:r>
              <a:rPr lang="en-US" altLang="en-US" sz="28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en-US" sz="2800" dirty="0" err="1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this.loginForm</a:t>
            </a:r>
            <a:r>
              <a:rPr lang="en-US" altLang="en-US" sz="28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2800" dirty="0" err="1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this.fb.group</a:t>
            </a:r>
            <a:r>
              <a:rPr lang="en-US" altLang="en-US" sz="28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({</a:t>
            </a:r>
          </a:p>
          <a:p>
            <a:pPr marL="0" indent="0">
              <a:buNone/>
            </a:pPr>
            <a:r>
              <a:rPr lang="en-US" altLang="en-US" sz="28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  email: ['', [</a:t>
            </a:r>
            <a:r>
              <a:rPr lang="en-US" altLang="en-US" sz="2800" dirty="0" err="1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Validators.required</a:t>
            </a:r>
            <a:r>
              <a:rPr lang="en-US" altLang="en-US" sz="28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Validators.email</a:t>
            </a:r>
            <a:r>
              <a:rPr lang="en-US" altLang="en-US" sz="28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]],</a:t>
            </a:r>
          </a:p>
          <a:p>
            <a:pPr marL="0" indent="0">
              <a:buNone/>
            </a:pPr>
            <a:r>
              <a:rPr lang="en-US" altLang="en-US" sz="28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  password: ['', [</a:t>
            </a:r>
            <a:r>
              <a:rPr lang="en-US" altLang="en-US" sz="2800" dirty="0" err="1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Validators.required</a:t>
            </a:r>
            <a:r>
              <a:rPr lang="en-US" altLang="en-US" sz="28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]],</a:t>
            </a:r>
          </a:p>
          <a:p>
            <a:pPr marL="0" indent="0">
              <a:buNone/>
            </a:pPr>
            <a:r>
              <a:rPr lang="en-US" altLang="en-US" sz="28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});</a:t>
            </a:r>
          </a:p>
          <a:p>
            <a:pPr marL="0" indent="0">
              <a:buNone/>
            </a:pPr>
            <a:r>
              <a:rPr lang="en-US" altLang="en-US" sz="28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</a:p>
          <a:p>
            <a:pPr marL="457200" lvl="1" indent="0">
              <a:buNone/>
            </a:pPr>
            <a:endParaRPr lang="en-US" altLang="en-US" dirty="0"/>
          </a:p>
          <a:p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374228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Meaning of </a:t>
            </a:r>
            <a:r>
              <a:rPr lang="en-US" altLang="en-US" smtClean="0"/>
              <a:t>previous slide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09600" y="3466584"/>
            <a:ext cx="2167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5007" y="1256768"/>
            <a:ext cx="1078361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" indent="0">
              <a:buNone/>
            </a:pPr>
            <a:r>
              <a:rPr lang="en-US" altLang="en-US" sz="2400" dirty="0" err="1" smtClean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loginForm</a:t>
            </a:r>
            <a:r>
              <a:rPr lang="en-US" altLang="en-US" sz="24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400" dirty="0" err="1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FormGroup</a:t>
            </a:r>
            <a:r>
              <a:rPr lang="en-US" altLang="en-US" sz="24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declares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variable named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loginForm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will hold a group of form controls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constructor(private fb: </a:t>
            </a:r>
            <a:r>
              <a:rPr lang="en-US" altLang="en-US" sz="2400" dirty="0" err="1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FormBuilder</a:t>
            </a:r>
            <a:r>
              <a:rPr lang="en-US" altLang="en-US" sz="24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2400" dirty="0" smtClean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constructor receives an instance of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FormBuilder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(named fb), which is a helper service to easily create forms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err="1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this.loginForm</a:t>
            </a:r>
            <a:r>
              <a:rPr lang="en-US" altLang="en-US" sz="24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2400" dirty="0" err="1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this.fb.group</a:t>
            </a:r>
            <a:r>
              <a:rPr lang="en-US" altLang="en-US" sz="24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Here we are assigning the form builder to our form group by calling the group method of Form Builder.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the constructor,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this.loginForm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this.fb.group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({...}); initializes the form with two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controls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Email and Password where validators are applied.	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4243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Steps for adding validators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Go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login.component.html --&gt; add:</a:t>
            </a:r>
          </a:p>
          <a:p>
            <a:pPr marL="0" indent="0">
              <a:buNone/>
            </a:pPr>
            <a:r>
              <a:rPr lang="en-US" altLang="en-US" sz="28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sz="2800" dirty="0" err="1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formGroup</a:t>
            </a:r>
            <a:r>
              <a:rPr lang="en-US" altLang="en-US" sz="28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]="</a:t>
            </a:r>
            <a:r>
              <a:rPr lang="en-US" altLang="en-US" sz="2800" dirty="0" err="1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loginForm</a:t>
            </a:r>
            <a:r>
              <a:rPr lang="en-US" altLang="en-US" sz="28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action form</a:t>
            </a:r>
          </a:p>
          <a:p>
            <a:pPr marL="0" indent="0">
              <a:buNone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US" altLang="en-US" sz="2800" dirty="0" err="1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formControlName</a:t>
            </a:r>
            <a:r>
              <a:rPr lang="en-US" altLang="en-US" sz="28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=”email”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add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ngif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800" dirty="0" smtClean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en-US" sz="28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div *</a:t>
            </a:r>
            <a:r>
              <a:rPr lang="en-US" altLang="en-US" sz="2800" dirty="0" err="1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ngIf</a:t>
            </a:r>
            <a:r>
              <a:rPr lang="en-US" altLang="en-US" sz="28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US" altLang="en-US" sz="2800" dirty="0" err="1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loginForm.get</a:t>
            </a:r>
            <a:r>
              <a:rPr lang="en-US" altLang="en-US" sz="28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('email')?.errors?.['email']"&gt;</a:t>
            </a:r>
          </a:p>
          <a:p>
            <a:pPr marL="0" indent="0">
              <a:buNone/>
            </a:pPr>
            <a:r>
              <a:rPr lang="en-US" altLang="en-US" sz="2800" dirty="0" smtClean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	        </a:t>
            </a:r>
            <a:r>
              <a:rPr lang="en-US" altLang="en-US" sz="28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Invalid email format</a:t>
            </a:r>
          </a:p>
          <a:p>
            <a:pPr marL="0" indent="0">
              <a:buNone/>
            </a:pPr>
            <a:r>
              <a:rPr lang="en-US" altLang="en-US" sz="2800" dirty="0" smtClean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	&lt;/</a:t>
            </a:r>
            <a:r>
              <a:rPr lang="en-US" altLang="en-US" sz="28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div&gt;</a:t>
            </a:r>
          </a:p>
          <a:p>
            <a:pPr marL="0" indent="0">
              <a:buNone/>
            </a:pPr>
            <a:r>
              <a:rPr lang="en-US" altLang="en-US" sz="2800" dirty="0" smtClean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***Add </a:t>
            </a:r>
            <a:r>
              <a:rPr lang="en-US" altLang="en-US" sz="2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more validators similarly</a:t>
            </a:r>
          </a:p>
          <a:p>
            <a:endParaRPr lang="en-US" altLang="en-US" sz="1800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ngIf</a:t>
            </a:r>
            <a:r>
              <a:rPr lang="en-US" dirty="0" smtClean="0"/>
              <a:t>: Angular If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46442" y="1398021"/>
            <a:ext cx="1129911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hangingPunct="0">
              <a:spcBef>
                <a:spcPct val="0"/>
              </a:spcBef>
            </a:pP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ngIf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an Angular directive that conditionally adds or removes a part of the template from the web page. </a:t>
            </a:r>
          </a:p>
          <a:p>
            <a:pPr algn="just" eaLnBrk="0" hangingPunct="0">
              <a:spcBef>
                <a:spcPct val="0"/>
              </a:spcBef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kumimoji="0" lang="en-US" altLang="en-US" sz="2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lets you display or hide elements based on a condition. </a:t>
            </a:r>
          </a:p>
          <a:p>
            <a:pPr algn="just" eaLnBrk="0" hangingPunct="0">
              <a:spcBef>
                <a:spcPct val="0"/>
              </a:spcBef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if you only want to show a message when a user is logged in, you can use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ngIf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check if the user is logged in and display the message only when the condition is true.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munications and Dialogues">
  <a:themeElements>
    <a:clrScheme name="Communications and Dialogu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Communications and Dialogu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Communications and Dialogu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3174</Words>
  <Application>Microsoft Office PowerPoint</Application>
  <PresentationFormat>Widescreen</PresentationFormat>
  <Paragraphs>334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SimSun</vt:lpstr>
      <vt:lpstr>Arial</vt:lpstr>
      <vt:lpstr>Times New Roman</vt:lpstr>
      <vt:lpstr>Wingdings</vt:lpstr>
      <vt:lpstr>Communications and Dialogues</vt:lpstr>
      <vt:lpstr>Day 2</vt:lpstr>
      <vt:lpstr>Contents</vt:lpstr>
      <vt:lpstr>Types of Applications in Angular: Standalone vs. Module-Based</vt:lpstr>
      <vt:lpstr>Standalone</vt:lpstr>
      <vt:lpstr>Module Based</vt:lpstr>
      <vt:lpstr>Step 1</vt:lpstr>
      <vt:lpstr>Modularity in Angular</vt:lpstr>
      <vt:lpstr>Key Benefits of Using Modules</vt:lpstr>
      <vt:lpstr>Step 2</vt:lpstr>
      <vt:lpstr>Creating Modules - Eager Loading</vt:lpstr>
      <vt:lpstr>Creating Modules - Dynamic Loading</vt:lpstr>
      <vt:lpstr>Getting into the ‘Core’ Module - creating components</vt:lpstr>
      <vt:lpstr>Creation of Components</vt:lpstr>
      <vt:lpstr>app.component.html</vt:lpstr>
      <vt:lpstr>Step 3: Updating app.component.html</vt:lpstr>
      <vt:lpstr>app.module.ts</vt:lpstr>
      <vt:lpstr>Step 4: Setting the relationship between AppModule and CoreModule</vt:lpstr>
      <vt:lpstr>Step 5: Exporting modules in Core</vt:lpstr>
      <vt:lpstr>Step 6: Running the app</vt:lpstr>
      <vt:lpstr>Step 7: Passing Data between Components</vt:lpstr>
      <vt:lpstr>Passing Data between Components</vt:lpstr>
      <vt:lpstr>Passing Data between Components</vt:lpstr>
      <vt:lpstr>Data Binding: Interpolation</vt:lpstr>
      <vt:lpstr>Step 8: Adding global styles</vt:lpstr>
      <vt:lpstr>Step 9: Adding html codes to Core </vt:lpstr>
      <vt:lpstr>Pipes </vt:lpstr>
      <vt:lpstr>Types of Pipes</vt:lpstr>
      <vt:lpstr>Step 10: Using Pipe for Date on footer</vt:lpstr>
      <vt:lpstr>Other Date Format and Pipe</vt:lpstr>
      <vt:lpstr>Day 3</vt:lpstr>
      <vt:lpstr>Contents</vt:lpstr>
      <vt:lpstr>Steps for Connection between Core and Auth Module</vt:lpstr>
      <vt:lpstr>Recollect!</vt:lpstr>
      <vt:lpstr>Step 2: Setting routes to Login and Register</vt:lpstr>
      <vt:lpstr>Step 2: Setting routes to Login and Register</vt:lpstr>
      <vt:lpstr>Setting routes to Login and Register</vt:lpstr>
      <vt:lpstr>Step 3: Adding RouterModule in app.module</vt:lpstr>
      <vt:lpstr>Step 3: Adding RouterModule in app.module</vt:lpstr>
      <vt:lpstr>Step 4: Add routes to auth-routing.module.ts</vt:lpstr>
      <vt:lpstr>Step 5: html file updates</vt:lpstr>
      <vt:lpstr>Step 6: Add Dynamic routing to Core Module</vt:lpstr>
      <vt:lpstr>Actual Look and feel of Register/Login Component</vt:lpstr>
      <vt:lpstr>ReactiveFormsModule</vt:lpstr>
      <vt:lpstr>ReactiveFormsModule</vt:lpstr>
      <vt:lpstr>Example for Classes of ReactiveFormsModule</vt:lpstr>
      <vt:lpstr>Validators in Angular</vt:lpstr>
      <vt:lpstr>Steps for adding validators</vt:lpstr>
      <vt:lpstr>Meaning of previous slide</vt:lpstr>
      <vt:lpstr>Steps for adding validators</vt:lpstr>
      <vt:lpstr>ngIf: Angular If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</dc:title>
  <dc:creator>EDP</dc:creator>
  <cp:lastModifiedBy>Hp</cp:lastModifiedBy>
  <cp:revision>153</cp:revision>
  <dcterms:created xsi:type="dcterms:W3CDTF">2025-01-31T06:06:00Z</dcterms:created>
  <dcterms:modified xsi:type="dcterms:W3CDTF">2026-02-14T02:25:00Z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E0248ECB9A2F45D49504ADB9A9A50445_13</vt:lpwstr>
  </property>
  <property fmtid="{D5CDD505-2E9C-101B-9397-08002B2CF9AE}" pid="3" name="KSOProductBuildVer">
    <vt:lpwstr>1033-12.2.0.19805</vt:lpwstr>
  </property>
</Properties>
</file>